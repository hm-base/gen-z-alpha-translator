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Georgia"/>
              </a:rPr>
              <a:t>Gen Z / Alpha Slang ↔ English Translator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5D0DB"/>
                </a:solidFill>
                <a:latin typeface="Calibri"/>
              </a:rPr>
              <a:t>Group 2  ·  One model, two directions  ·  Llama 3.2 3B + QLoRA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A2B3C"/>
                </a:solidFill>
                <a:latin typeface="Calibri"/>
              </a:rPr>
              <a:t>Task: bidirectional translator controlled by a prompt tag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A2B3C"/>
                </a:solidFill>
                <a:latin typeface="Calibri"/>
              </a:rPr>
              <a:t>•  Translate to English:  &lt;slang&gt;   →  plain English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A2B3C"/>
                </a:solidFill>
                <a:latin typeface="Calibri"/>
              </a:rPr>
              <a:t>•  Translate to Gen Z slang:  &lt;English&gt;   →  slang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539496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108960"/>
            <a:ext cx="539496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1821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Slang → English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033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C6B7A"/>
                </a:solidFill>
                <a:latin typeface="Calibri"/>
              </a:rPr>
              <a:t>IN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You're tweaking if you cancel over one late reply.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5C6B7A"/>
                </a:solidFill>
                <a:latin typeface="Calibri"/>
              </a:rPr>
              <a:t>OUT (target)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You're overreacting if you cancel over one late reply.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108960"/>
            <a:ext cx="539496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3108960"/>
            <a:ext cx="5394960" cy="41148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1821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English → Slang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7033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C6B7A"/>
                </a:solidFill>
                <a:latin typeface="Calibri"/>
              </a:rPr>
              <a:t>IN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Where are you? The movie starts in ten.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5C6B7A"/>
                </a:solidFill>
                <a:latin typeface="Calibri"/>
              </a:rPr>
              <a:t>OUT (target)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WRU@? The movie starts in ten.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Group 2  ·  Week 5 Mini-project  ·  Speaker: Coordinator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C2E"/>
                </a:solidFill>
                <a:latin typeface="Georgia"/>
              </a:rPr>
              <a:t>The gap: base model misses recent slang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5C6B7A"/>
                </a:solidFill>
                <a:latin typeface="Calibri"/>
              </a:rPr>
              <a:t>Llama 3.2 3B guesses or invents meanings for 2023–2026 slang (knowledge + behaviour gap).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5C6B7A"/>
                </a:solidFill>
                <a:latin typeface="Calibri"/>
              </a:rPr>
              <a:t>Fine-tuning puts the skill in the weights — not RAG (messy short senses; assignment wants weights).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1115568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C2E"/>
                </a:solidFill>
                <a:latin typeface="Calibri"/>
              </a:rPr>
              <a:t>Concrete failure (held-out eval)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5C6B7A"/>
                </a:solidFill>
                <a:latin typeface="Calibri"/>
              </a:rPr>
              <a:t>IN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2B3C"/>
                </a:solidFill>
                <a:latin typeface="Calibri"/>
              </a:rPr>
              <a:t>You look 6Y as hell in that outfit tonight.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C1121F"/>
                </a:solidFill>
                <a:latin typeface="Calibri"/>
              </a:rPr>
              <a:t>BASE (wrong)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2B3C"/>
                </a:solidFill>
                <a:latin typeface="Calibri"/>
              </a:rPr>
              <a:t>That's a very rude comment… you appear six years old wearing those clothes tonight.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2D6A4F"/>
                </a:solidFill>
                <a:latin typeface="Calibri"/>
              </a:rPr>
              <a:t>REFERENCE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2B3C"/>
                </a:solidFill>
                <a:latin typeface="Calibri"/>
              </a:rPr>
              <a:t>You look really sexy in that outfit tonight.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5C6B7A"/>
                </a:solidFill>
                <a:latin typeface="Calibri"/>
              </a:rPr>
              <a:t>Why it fails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2B3C"/>
                </a:solidFill>
                <a:latin typeface="Calibri"/>
              </a:rPr>
              <a:t>Treats slang token 6Y as a literal age — confidently wrong meaning.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Group 2  ·  Week 5 Mini-project  ·  Speaker: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C2E"/>
                </a:solidFill>
                <a:latin typeface="Georgia"/>
              </a:rPr>
              <a:t>What we did: SFT via QLoRA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26517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2651760" cy="4572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704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1 ·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C"/>
                </a:solidFill>
                <a:latin typeface="Calibri"/>
              </a:rPr>
              <a:t>Clean pairs +
Grok synthetic
(+ SDG pairs)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0116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5D04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097280"/>
            <a:ext cx="26517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097280"/>
            <a:ext cx="2651760" cy="4572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1704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2 · Prep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737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C"/>
                </a:solidFill>
                <a:latin typeface="Calibri"/>
              </a:rPr>
              <a:t>Dedupe · both
directions · freeze
70-item 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0116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5D04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097280"/>
            <a:ext cx="26517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097280"/>
            <a:ext cx="2651760" cy="4572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1704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3 · Train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737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C"/>
                </a:solidFill>
                <a:latin typeface="Calibri"/>
              </a:rPr>
              <a:t>Llama 3.2 3B
4-bit QLoRA
(r=16)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0116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5D04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097280"/>
            <a:ext cx="26517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097280"/>
            <a:ext cx="265176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1704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4 · Eval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1737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C"/>
                </a:solidFill>
                <a:latin typeface="Calibri"/>
              </a:rPr>
              <a:t>Human 1/0 grades
+ accept / METEOR
/ BERT / abstain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657600"/>
            <a:ext cx="1115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F1C2E"/>
                </a:solidFill>
                <a:latin typeface="Calibri"/>
              </a:rPr>
              <a:t>Why SFT / QLoRA (not DPO, not RAG)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Gap is right vs wrong meaning → SFT teaches pairs; DPO is for style between already-valid answers.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Assignment wants capability in the weights; slang senses are short/messy for retrieval.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QLoRA fits T4 / laptop GPUs; one adapter serves both directions via tags.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Primary metric = human accuracy (2 raters); auto metrics are secondary.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Group 2  ·  Week 5 Mini-project  ·  Speaker: Modelling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C2E"/>
                </a:solidFill>
                <a:latin typeface="Georgia"/>
              </a:rPr>
              <a:t>Results: before vs after (honest)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6B7A"/>
                </a:solidFill>
                <a:latin typeface="Calibri"/>
              </a:rPr>
              <a:t>Primary = human accuracy (both raters = 1) on grading_sheet_post_grok.csv  ·  agreement 71%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676656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6766560" cy="4572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39" y="12984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2984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Tuned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67665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7451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C"/>
                </a:solidFill>
                <a:latin typeface="Calibri"/>
              </a:rPr>
              <a:t>Slang → 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87451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C"/>
                </a:solidFill>
                <a:latin typeface="Calibri"/>
              </a:rPr>
              <a:t>37%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87451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1121F"/>
                </a:solidFill>
                <a:latin typeface="Calibri"/>
              </a:rPr>
              <a:t>37%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377439"/>
            <a:ext cx="6766560" cy="64008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1459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C"/>
                </a:solidFill>
                <a:latin typeface="Calibri"/>
              </a:rPr>
              <a:t>English → Slang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39" y="251459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C"/>
                </a:solidFill>
                <a:latin typeface="Calibri"/>
              </a:rPr>
              <a:t>60%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51459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1121F"/>
                </a:solidFill>
                <a:latin typeface="Calibri"/>
              </a:rPr>
              <a:t>20%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017520"/>
            <a:ext cx="67665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1546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C"/>
                </a:solidFill>
                <a:latin typeface="Calibri"/>
              </a:rPr>
              <a:t>Overall (translate)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39" y="31546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C"/>
                </a:solidFill>
                <a:latin typeface="Calibri"/>
              </a:rPr>
              <a:t>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1546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1121F"/>
                </a:solidFill>
                <a:latin typeface="Calibri"/>
              </a:rPr>
              <a:t>28%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657599"/>
            <a:ext cx="6766560" cy="64008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947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C"/>
                </a:solidFill>
                <a:latin typeface="Calibri"/>
              </a:rPr>
              <a:t>Abstain (auto, junk)*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7947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B3C"/>
                </a:solidFill>
                <a:latin typeface="Calibri"/>
              </a:rP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7947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9488"/>
                </a:solidFill>
                <a:latin typeface="Calibri"/>
              </a:rPr>
              <a:t>100%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1234440"/>
            <a:ext cx="411480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137160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C2E"/>
                </a:solidFill>
                <a:latin typeface="Calibri"/>
              </a:rPr>
              <a:t>Secondary (auto)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1828800"/>
            <a:ext cx="374903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C6B7A"/>
                </a:solidFill>
                <a:latin typeface="Calibri"/>
              </a:rPr>
              <a:t>Accept: 3% → 8%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C6B7A"/>
                </a:solidFill>
                <a:latin typeface="Calibri"/>
              </a:rPr>
              <a:t>METEOR: 0.13 → 0.09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C6B7A"/>
                </a:solidFill>
                <a:latin typeface="Calibri"/>
              </a:rPr>
              <a:t>BERTScore: 0.55 → 0.48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C6B7A"/>
                </a:solidFill>
                <a:latin typeface="Calibri"/>
              </a:rPr>
              <a:t>Abstain: 10% → 100%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C6B7A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C6B7A"/>
                </a:solidFill>
                <a:latin typeface="Calibri"/>
              </a:rPr>
              <a:t>Humans are the grade.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75488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B3C"/>
                </a:solidFill>
                <a:latin typeface="Calibri"/>
              </a:rPr>
              <a:t>*Unanswerable rows were not dual-rated by humans; abstain % is automatic marker check.
Takeaway: on this held-out set, QLoRA did not improve human translation accuracy — English→slang got much worse. Clear win is refusing junk input.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Group 2  ·  Week 5 Mini-project  ·  Speaker: Data &amp; eval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C2E"/>
                </a:solidFill>
                <a:latin typeface="Georgia"/>
              </a:rPr>
              <a:t>What it still gets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C2E"/>
                </a:solidFill>
                <a:latin typeface="Calibri"/>
              </a:rPr>
              <a:t>1 · English → slang collapsed under human grades (60% → 20%)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2B3C"/>
                </a:solidFill>
                <a:latin typeface="Calibri"/>
              </a:rPr>
              <a:t>Tuned often emits acronym junk (e.g. SIR, YLYITN, TNTF) instead of a slang sentence.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B3C"/>
                </a:solidFill>
                <a:latin typeface="Calibri"/>
              </a:rPr>
              <a:t>Avg length English→slang: base ~10 words, tuned ~3.5 — not gradable as translation.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B3C"/>
                </a:solidFill>
                <a:latin typeface="Calibri"/>
              </a:rPr>
              <a:t>Why: data + tight decode taught “slang = short codes.”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566160"/>
            <a:ext cx="111556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C2E"/>
                </a:solidFill>
                <a:latin typeface="Calibri"/>
              </a:rPr>
              <a:t>2 · Rare acronyms / wrong sense still missed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2B3C"/>
                </a:solidFill>
                <a:latin typeface="Calibri"/>
              </a:rPr>
              <a:t>IN: "I'm heading out, TNT fam."  →  REF: "talk next time fam"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B3C"/>
                </a:solidFill>
                <a:latin typeface="Calibri"/>
              </a:rPr>
              <a:t>TUNED: "Good night everyone!" or "TNTF" — drops or mangles the sense.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B3C"/>
                </a:solidFill>
                <a:latin typeface="Calibri"/>
              </a:rPr>
              <a:t>Slang→English flat at 37%: fine-tune did not clearly beat base paraphrase.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Group 2  ·  Week 5 Mini-project  ·  Speaker: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C2E"/>
                </a:solidFill>
                <a:latin typeface="Georgia"/>
              </a:rPr>
              <a:t>Why slang translation is so tricky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6B7A"/>
                </a:solidFill>
                <a:latin typeface="Calibri"/>
              </a:rPr>
              <a:t>Small knobs change the whole story — this is the nature of the task, not just “bad luck.”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365760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09728" cy="214884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630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C2E"/>
                </a:solidFill>
                <a:latin typeface="Calibri"/>
              </a:rPr>
              <a:t>Many valid answers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C"/>
                </a:solidFill>
                <a:latin typeface="Calibri"/>
              </a:rPr>
              <a:t>Especially English→slang: GOAT / fire / ate can all be “right.” One gold string under-credits good paraphrases.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365760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80160"/>
            <a:ext cx="109728" cy="214884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4630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C2E"/>
                </a:solidFill>
                <a:latin typeface="Calibri"/>
              </a:rPr>
              <a:t>Meaning ≠ surface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C"/>
                </a:solidFill>
                <a:latin typeface="Calibri"/>
              </a:rPr>
              <a:t>Humans score sense. Decode length + prompts change what the model emits overnight (essays ↔ acronym soup).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80" y="1280160"/>
            <a:ext cx="365760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1280160"/>
            <a:ext cx="109728" cy="214884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4630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C2E"/>
                </a:solidFill>
                <a:latin typeface="Calibri"/>
              </a:rPr>
              <a:t>Data style leaks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19659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C"/>
                </a:solidFill>
                <a:latin typeface="Calibri"/>
              </a:rPr>
              <a:t>Dict / acronym-heavy pairs quietly teach TNTF-style junk. Training mix becomes behaviour.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611879"/>
            <a:ext cx="365760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611879"/>
            <a:ext cx="10972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9475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C2E"/>
                </a:solidFill>
                <a:latin typeface="Calibri"/>
              </a:rPr>
              <a:t>Base is already decent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297679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C"/>
                </a:solidFill>
                <a:latin typeface="Calibri"/>
              </a:rPr>
              <a:t>Llama paraphrases OK. Fine-tuning can hurt a direction if the new habit is worse than the base.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3611879"/>
            <a:ext cx="365760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611879"/>
            <a:ext cx="10972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79475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C2E"/>
                </a:solidFill>
                <a:latin typeface="Calibri"/>
              </a:rPr>
              <a:t>Eval design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297679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C"/>
                </a:solidFill>
                <a:latin typeface="Calibri"/>
              </a:rPr>
              <a:t>Gloss-style eval looked strong; natural held-out eval told the truth. Metric choice can hide failure.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80" y="3611879"/>
            <a:ext cx="365760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80" y="3611879"/>
            <a:ext cx="109728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379475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C2E"/>
                </a:solidFill>
                <a:latin typeface="Calibri"/>
              </a:rPr>
              <a:t>Two directions ≠ one skill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297679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C"/>
                </a:solidFill>
                <a:latin typeface="Calibri"/>
              </a:rPr>
              <a:t>Slang→English and English→slang fail differently. One adapter, two hard problems.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Group 2  ·  Week 5 Mini-project  ·  Speaker: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C2E"/>
                </a:solidFill>
                <a:latin typeface="Georgia"/>
              </a:rPr>
              <a:t>Recommendation: ITERATE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3566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C6B7A"/>
                </a:solidFill>
                <a:latin typeface="Calibri"/>
              </a:rPr>
              <a:t>DEPLOY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051560"/>
            <a:ext cx="3566160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2344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ITERATE  ← our call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1051560"/>
            <a:ext cx="3566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2344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C6B7A"/>
                </a:solidFill>
                <a:latin typeface="Calibri"/>
              </a:rPr>
              <a:t>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86000"/>
            <a:ext cx="11155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F1C2E"/>
                </a:solidFill>
                <a:latin typeface="Calibri"/>
              </a:rPr>
              <a:t>Why iterate (not deploy yet — and not give up)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Real win to keep: abstain on junk 10% → 100%.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Human translate accuracy fell overall (48% → 28%); English→slang 60% → 20% (acronym soup).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Slang→English flat at 37% — gap still open; task is hard (slide 6), so we keep improving.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C2E"/>
                </a:solidFill>
                <a:latin typeface="Calibri"/>
              </a:rPr>
              <a:t>Next steps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Looser decode + less acronym-heavy data; more natural English→slang pairs; re-grade.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Optional: short Gradio demo of abstain / one good slang→English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Group 2  ·  Week 5 Mini-project  ·  Speaker: Coordinator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